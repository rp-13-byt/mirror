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3017520" cy="36576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QUALCOMM SNAPDRAGON X HACKATHON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822960"/>
            <a:ext cx="283464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100% ON-DEVICE  |  ZERO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EA5E9"/>
                </a:solidFill>
                <a:latin typeface="Segoe UI"/>
              </a:defRPr>
            </a:pPr>
            <a:r>
              <a:t>MIRROR</a:t>
            </a:r>
          </a:p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Privacy-First, On-Device Digital Wellbeing Companion</a:t>
            </a:r>
          </a:p>
          <a:p>
            <a:pPr>
              <a:spcBef>
                <a:spcPts val="600"/>
              </a:spcBef>
              <a:defRPr sz="1450">
                <a:solidFill>
                  <a:srgbClr val="94A3B8"/>
                </a:solidFill>
                <a:latin typeface="Segoe UI"/>
              </a:defRPr>
            </a:pPr>
            <a:r>
              <a:t>Unleashing the Qualcomm Hexagon NPU for Real-Time, Ethical Edge-AI Behavioral Intelligence on Windows 11 Copilot+ PCs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SNAPDRAGON X NPU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ONNX Runtime with Qualcomm QNN Execution Provider. 0.02ms P50 latency at &lt;67 MB 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411480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7 STANDOUT INNOVATIONS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Adaptive Personal Baseline, Flow-State Deep Work, Local SLM RAG, Wellbeing Wallet, Audio Narrator.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411480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MATHEMATICAL PRIVACY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Zero cloud account, zero network sockets, zero keystrokes or URLs. 65/65 automated tests passing.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200"/>
              </a:spcBef>
              <a:defRPr sz="2500" b="1">
                <a:solidFill>
                  <a:srgbClr val="F8FAFC"/>
                </a:solidFill>
                <a:latin typeface="Segoe UI"/>
              </a:defRPr>
            </a:pPr>
            <a:r>
              <a:t>Screen-Time Trackers Shouldn't Turn Into Cloud Surveillance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🚩</a:t>
            </a:r>
          </a:p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  <a:latin typeface="Segoe UI"/>
              </a:defRPr>
            </a:pPr>
            <a:r>
              <a:t>Invasive Telemetry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Legacy tools log full window titles, URLs, keystrokes, and periodic screenshots—exposing passwords, banking, and private chats to remote servers.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828800"/>
            <a:ext cx="342900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☁️</a:t>
            </a:r>
          </a:p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  <a:latin typeface="Segoe UI"/>
              </a:defRPr>
            </a:pPr>
            <a:r>
              <a:t>Cloud Vulnerability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Aggregating intimate behavioral habits in centralized cloud databases creates constant data leak risks and enables unconsented corporate profiling.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1828800"/>
            <a:ext cx="342900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⚠️</a:t>
            </a:r>
          </a:p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  <a:latin typeface="Segoe UI"/>
              </a:defRPr>
            </a:pPr>
            <a:r>
              <a:t>Guilt &amp; Negative Shaming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Conventional apps rely on intrusive modal timers and clinical medical labels ('burnout', 'addiction'), increasing anxiety rather than agency.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ARCHITECTURE &amp; PIPELINE</a:t>
            </a:r>
          </a:p>
          <a:p>
            <a:pPr>
              <a:spcBef>
                <a:spcPts val="200"/>
              </a:spcBef>
              <a:defRPr sz="2500" b="1">
                <a:solidFill>
                  <a:srgbClr val="F8FAFC"/>
                </a:solidFill>
                <a:latin typeface="Segoe UI"/>
              </a:defRPr>
            </a:pPr>
            <a:r>
              <a:t>100% On-Device: From Win32 Hooks to Snapdragon X NPU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1. Coarse Win32 Hook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SetWinEventHook tracks foreground transitions; GetLastInputInfo tracks idle time. Zero window titles or inputs 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73736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2. Temporal Matrix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Encodes sequences into [60×10] normalized feature matrices capturing duration and transition velocity.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173736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3. Qualcomm QNN NPU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ONNX Runtime executes 1D-CNN temporal sequence model on Snapdragon X Hexagon NPU in 0.02ms P50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4. Signal Fusion Engine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Blends deterministic rules with local neural probabilities to guarantee 0 false positives without cloud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402336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5. SQLite in WAL Mode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Zero-cloud persistence with transactional integrity, fast local queries, and 0-residue data purge.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402336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6. Windows 11 Fluent UI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WinUI 3 native desktop app featuring custom Mica backdrop, real-time live cards, and dark theme.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LIVE UI SHOWCASE — POSITIVE REINFORCEMENT</a:t>
            </a:r>
          </a:p>
          <a:p>
            <a:pPr>
              <a:spcBef>
                <a:spcPts val="200"/>
              </a:spcBef>
              <a:defRPr sz="2500" b="1">
                <a:solidFill>
                  <a:srgbClr val="F8FAFC"/>
                </a:solidFill>
                <a:latin typeface="Segoe UI"/>
              </a:defRPr>
            </a:pPr>
            <a:r>
              <a:t>Flow-State Recognition &amp; Real-Time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132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_flow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94944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645920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0B981"/>
                </a:solidFill>
                <a:latin typeface="Segoe UI"/>
              </a:defRPr>
            </a:pPr>
            <a:r>
              <a:t>Flow State Achieved Card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Detects ≥60 min uninterrupted deep work with 0 distractions. The screenshot shows '74m deep work in VS Code' celebrated with emerald reinforcement.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182112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EA5E9"/>
                </a:solidFill>
                <a:latin typeface="Segoe UI"/>
              </a:defRPr>
            </a:pPr>
            <a:r>
              <a:t>Real-Time Focus Card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Displays live foreground app with an active focus duration ticking every moment ('02:06:24') and second-level precision.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718304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A855F7"/>
                </a:solidFill>
                <a:latin typeface="Segoe UI"/>
              </a:defRPr>
            </a:pPr>
            <a:r>
              <a:t>Voice-Narrated Summary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Native Windows offline speech synthesis ('Listen to Today's Summary' button) delivers calm, human daily audio briefs.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LIVE UI SHOWCASE — EDGE GENERATIVE AI</a:t>
            </a:r>
          </a:p>
          <a:p>
            <a:pPr>
              <a:spcBef>
                <a:spcPts val="200"/>
              </a:spcBef>
              <a:defRPr sz="2500" b="1">
                <a:solidFill>
                  <a:srgbClr val="F8FAFC"/>
                </a:solidFill>
                <a:latin typeface="Segoe UI"/>
              </a:defRPr>
            </a:pPr>
            <a:r>
              <a:t>Explain with Local AI (SLM / RAG) &amp; Active Recalibration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132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havioral_patterns_s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94944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645920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EA5E9"/>
                </a:solidFill>
                <a:latin typeface="Segoe UI"/>
              </a:defRPr>
            </a:pPr>
            <a:r>
              <a:t>On-Device SLM RAG Reasoning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Extracts a 4-hour local SQLite context window around flagged patterns. As seen in the screenshot, it synthesizes factual 2-sentence explanations completely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182112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59E0B"/>
                </a:solidFill>
                <a:latin typeface="Segoe UI"/>
              </a:defRPr>
            </a:pPr>
            <a:r>
              <a:t>Active Recalibration Loop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Users can click 'This isn't accurate' to instantly bump sensitivity thresholds by +15%, teaching Mirror their habits without cloud retraining.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718304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0B981"/>
                </a:solidFill>
                <a:latin typeface="Segoe UI"/>
              </a:defRPr>
            </a:pPr>
            <a:r>
              <a:t>Non-Clinical Objective Framing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Enforces strict ethical guidelines prohibiting diagnostic labels ('burnout', 'addiction'), presenting purely observational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LIVE UI SHOWCASE — PERSONALIZATION WITHOUT PROFILING</a:t>
            </a:r>
          </a:p>
          <a:p>
            <a:pPr>
              <a:spcBef>
                <a:spcPts val="200"/>
              </a:spcBef>
              <a:defRPr sz="2500" b="1">
                <a:solidFill>
                  <a:srgbClr val="F8FAFC"/>
                </a:solidFill>
                <a:latin typeface="Segoe UI"/>
              </a:defRPr>
            </a:pPr>
            <a:r>
              <a:t>Adaptive Personal Baseline &amp; Statistical Envelope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132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ends_adaptive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94944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645920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0B981"/>
                </a:solidFill>
                <a:latin typeface="Segoe UI"/>
              </a:defRPr>
            </a:pPr>
            <a:r>
              <a:t>Rolling Statistical Envelope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Replaces rigid arbitrary limits with a 14-day rolling median (6.5h) and natural variance standard deviation (±1.1h) derived entirely on-device.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182112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EA5E9"/>
                </a:solidFill>
                <a:latin typeface="Segoe UI"/>
              </a:defRPr>
            </a:pPr>
            <a:r>
              <a:t>Strict &gt;2σ Flagging Gate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Anomalous patterns trigger only if usage exceeds two standard deviations (&gt;2σ = 8.7h), eliminating false alerts during typical busy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718304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EC4899"/>
                </a:solidFill>
                <a:latin typeface="Segoe UI"/>
              </a:defRPr>
            </a:pPr>
            <a:r>
              <a:t>Day 7 Calibration Phase Gate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Strictly gates pattern alerts during the first 7 days of installation while Mirror calmly learns baseline habits.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Segoe UI"/>
              </a:defRPr>
            </a:pPr>
            <a:r>
              <a:t>LIVE UI SHOWCASE — SUB-SECOND OBSERVABILITY</a:t>
            </a:r>
          </a:p>
          <a:p>
            <a:pPr>
              <a:spcBef>
                <a:spcPts val="200"/>
              </a:spcBef>
              <a:defRPr sz="2500" b="1">
                <a:solidFill>
                  <a:srgbClr val="F8FAFC"/>
                </a:solidFill>
                <a:latin typeface="Segoe UI"/>
              </a:defRPr>
            </a:pPr>
            <a:r>
              <a:t>Chronological Activity Timeline Updated Every Moment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132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tivit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94944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645920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A855F7"/>
                </a:solidFill>
                <a:latin typeface="Segoe UI"/>
              </a:defRPr>
            </a:pPr>
            <a:r>
              <a:t>Updated Every Moment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Dynamically prepends the currently focused app as 'LIVE NOW' with active duration, smoothly archiving completed sessions on window switch.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182112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EA5E9"/>
                </a:solidFill>
                <a:latin typeface="Segoe UI"/>
              </a:defRPr>
            </a:pPr>
            <a:r>
              <a:t>Categorical Classification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Maps processes to normalized categories (Development, Communication, Browsing) using an embedded offline heuristic identity resolver.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718304"/>
            <a:ext cx="33832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0B981"/>
                </a:solidFill>
                <a:latin typeface="Segoe UI"/>
              </a:defRPr>
            </a:pPr>
            <a:r>
              <a:t>Zero Private Content Ingestion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Only logs (Timestamp, AppKey, Process, Category, Duration, CloseReason). Zero document titles, URLs, or text inputs ever recorded.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SNAPDRAGON X NPU HARDWARE ACCELERATION</a:t>
            </a:r>
          </a:p>
          <a:p>
            <a:pPr>
              <a:spcBef>
                <a:spcPts val="200"/>
              </a:spcBef>
              <a:defRPr sz="2500" b="1">
                <a:solidFill>
                  <a:srgbClr val="F8FAFC"/>
                </a:solidFill>
                <a:latin typeface="Segoe UI"/>
              </a:defRPr>
            </a:pPr>
            <a:r>
              <a:t>Sub-Millisecond On-Device Inference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42032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0.02 ms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Segoe UI"/>
              </a:defRPr>
            </a:pPr>
            <a:r>
              <a:t>STEADY-STATE P50 LATENCY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Snapdragon X Hexagon NPU executes model evaluation in 20 microseconds.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828800"/>
            <a:ext cx="2542032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0.37 ms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Segoe UI"/>
              </a:defRPr>
            </a:pPr>
            <a:r>
              <a:t>WARMUP COLD-START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Instantaneous initialization on session launch with Qualcomm QNN 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28800"/>
            <a:ext cx="2542032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&lt; 67 MB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Segoe UI"/>
              </a:defRPr>
            </a:pPr>
            <a:r>
              <a:t>ACTIVE RAM FOOTPRINT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Ultra-lightweight process footprint designed for perpetual background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828800"/>
            <a:ext cx="2542032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A855F7"/>
                </a:solidFill>
                <a:latin typeface="Segoe UI"/>
              </a:defRPr>
            </a:pPr>
            <a:r>
              <a:t>&lt; 0.1%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Segoe UI"/>
              </a:defRPr>
            </a:pPr>
            <a:r>
              <a:t>BACKGROUND CPU USAGE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Virtually zero battery penalty on Snapdragon X Copilot+ laptops.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THREE-TIER HARDWARE EXECUTION PROVIDER FALLBACK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1. Primary: Qualcomm QNN EP — Targets Hexagon NPU on Snapdragon X Elite/Plus for maximum battery efficiency.</a:t>
            </a:r>
            <a:br/>
            <a:r>
              <a:t>2. Secondary: DirectML EP — Hardware GPU acceleration on Windows 11 DirectX 12 devices.</a:t>
            </a:r>
            <a:br/>
            <a:r>
              <a:t>3. Fallback: CPU EP — High-performance SIMD multi-threaded fallback ensuring 100% device compatibility.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VERIFICATION &amp; DATA SOVEREIGNTY</a:t>
            </a:r>
          </a:p>
          <a:p>
            <a:pPr>
              <a:spcBef>
                <a:spcPts val="200"/>
              </a:spcBef>
              <a:defRPr sz="2500" b="1">
                <a:solidFill>
                  <a:srgbClr val="F8FAFC"/>
                </a:solidFill>
                <a:latin typeface="Segoe UI"/>
              </a:defRPr>
            </a:pPr>
            <a:r>
              <a:t>Mathematical Proof: Zero Network &amp; Encrypted Wallet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✅  65 / 65 Automated Tests Passing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100% test pass rate across 6 test suites: Core, Tracking, Persistence, Analytics, Inference, and Privacy with 0 failures.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82880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🛡️  Reflection Privacy Guard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Automated code inspection dynamically verifies zero references to System.Net, HttpClient, or sockets across all assemblies.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🔐  AES-256-GCM 'Wellbeing Wallet'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Military-grade password-protected archive (.mirrorwallet) using PBKDF2 HMAC-SHA256 (100,000 iterations) for complete data sovereignty.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06908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📄  Offline QuestPDF Report Card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Generates professional executive vector PDF reports directly to Documents\Mirror with zero external service calls.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698480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THE QUALCOMM HACKATHON WINNING PROPOSITION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Segoe UI"/>
              </a:defRPr>
            </a:pPr>
            <a:r>
              <a:t>Why Mirror is the Flagship Showcase for Snapdragon X Copilot+ PCs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1. Real Hardware Value: </a:t>
            </a:r>
            <a:r>
              <a:rPr sz="1200">
                <a:solidFill>
                  <a:srgbClr val="94A3B8"/>
                </a:solidFill>
                <a:latin typeface="Segoe UI"/>
              </a:rPr>
              <a:t>Demonstrates the exact reason consumers need an NPU: perpetual, real-time background behavioral intelligence that runs with 0.02ms latency and zero battery impact.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2. Production-Grade Execution: </a:t>
            </a:r>
            <a:r>
              <a:rPr sz="1200">
                <a:solidFill>
                  <a:srgbClr val="94A3B8"/>
                </a:solidFill>
                <a:latin typeface="Segoe UI"/>
              </a:rPr>
              <a:t>Not a prototype or concept. A fully working 17-module Windows 11 WinUI 3 solution with 65/65 passing tests, real Win32 tracking, and live telemetry.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3. True Privacy Paradigm: </a:t>
            </a:r>
            <a:r>
              <a:rPr sz="1200">
                <a:solidFill>
                  <a:srgbClr val="94A3B8"/>
                </a:solidFill>
                <a:latin typeface="Segoe UI"/>
              </a:rPr>
              <a:t>Solves the biggest consumer fear of AI—cloud surveillance—by proving that on-device SLM RAG, adaptive baselines, and neural inference can run 100% offline.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4. Commercial &amp; Consumer Readiness: </a:t>
            </a:r>
            <a:r>
              <a:rPr sz="1200">
                <a:solidFill>
                  <a:srgbClr val="94A3B8"/>
                </a:solidFill>
                <a:latin typeface="Segoe UI"/>
              </a:rPr>
              <a:t>Built with modern Windows App SDK, Mica backdrops, encrypted wallet export, offline TTS narration, and printable executive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