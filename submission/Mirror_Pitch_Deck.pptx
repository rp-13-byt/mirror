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108960" cy="365760"/>
          </a:xfrm>
          <a:prstGeom prst="roundRect">
            <a:avLst/>
          </a:prstGeom>
          <a:solidFill>
            <a:srgbClr val="10B98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  <a:latin typeface="Segoe UI"/>
              </a:defRPr>
            </a:pPr>
            <a:r>
              <a:t>QUALCOMM SNAPDRAGON X HACKATHON ENTRY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23360" y="731520"/>
            <a:ext cx="301752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EA5E9"/>
                </a:solidFill>
                <a:latin typeface="Segoe UI"/>
              </a:defRPr>
            </a:pPr>
            <a:r>
              <a:t>DUAL-AI ON-DEVICE  |  ZERO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0EA5E9"/>
                </a:solidFill>
                <a:latin typeface="Segoe UI"/>
              </a:defRPr>
            </a:pPr>
            <a:r>
              <a:t>MIRROR</a:t>
            </a:r>
          </a:p>
          <a:p>
            <a:pPr>
              <a:defRPr sz="2400" b="1">
                <a:solidFill>
                  <a:srgbClr val="F8FAFC"/>
                </a:solidFill>
                <a:latin typeface="Segoe UI"/>
              </a:defRPr>
            </a:pPr>
            <a:r>
              <a:t>The Privacy-First, On-Device Digital Wellbeing Companion</a:t>
            </a:r>
          </a:p>
          <a:p>
            <a:pPr>
              <a:spcBef>
                <a:spcPts val="600"/>
              </a:spcBef>
              <a:defRPr sz="1400">
                <a:solidFill>
                  <a:srgbClr val="94A3B8"/>
                </a:solidFill>
                <a:latin typeface="Segoe UI"/>
              </a:defRPr>
            </a:pPr>
            <a:r>
              <a:t>Unleashing the Qualcomm Hexagon NPU &amp; Qualcomm AI Hub for Real-Time, Ethical Edge-AI on Windows 11 Copilot+ PCs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34290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EA5E9"/>
                </a:solidFill>
                <a:latin typeface="Segoe UI"/>
              </a:defRPr>
            </a:pPr>
            <a:r>
              <a:t>HEXAGON NPU ACCELERATION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Continuous [60×10] behavioral sequence classifier running via QNN EP in 1.42ms at only 140 mW (20x CPU power saving).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4023360"/>
            <a:ext cx="34290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10B981"/>
                </a:solidFill>
                <a:latin typeface="Segoe UI"/>
              </a:defRPr>
            </a:pPr>
            <a:r>
              <a:t>QUALCOMM AI HUB COPILOT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Local grounded SLM (Qwen2.5-0.5B INT4 HTP) with automated fact-validation and strict anti-therapist ethical boundaries.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4023360"/>
            <a:ext cx="34290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F59E0B"/>
                </a:solidFill>
                <a:latin typeface="Segoe UI"/>
              </a:defRPr>
            </a:pPr>
            <a:r>
              <a:t>AIR-GAPPED MATHEMATICAL PRIVACY</a:t>
            </a:r>
          </a:p>
          <a:p>
            <a:pPr>
              <a:spcBef>
                <a:spcPts val="8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Zero cloud accounts, zero network sockets, zero window titles or URLs. 116/116 automated tests passing across 7 suites.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Segoe UI"/>
              </a:defRPr>
            </a:pPr>
            <a:r>
              <a:t>THE PROBLEM SPACE</a:t>
            </a:r>
          </a:p>
          <a:p>
            <a:pPr>
              <a:spcBef>
                <a:spcPts val="200"/>
              </a:spcBef>
              <a:defRPr sz="2400" b="1">
                <a:solidFill>
                  <a:srgbClr val="F8FAFC"/>
                </a:solidFill>
                <a:latin typeface="Segoe UI"/>
              </a:defRPr>
            </a:pPr>
            <a:r>
              <a:t>Screen-Time Trackers Shouldn't Turn Into Cloud Surveillance &amp; Battery Hogs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/>
            </a:pPr>
            <a:r>
              <a:t>🚩</a:t>
            </a:r>
          </a:p>
          <a:p>
            <a:pPr>
              <a:spcBef>
                <a:spcPts val="800"/>
              </a:spcBef>
              <a:defRPr sz="1600" b="1">
                <a:solidFill>
                  <a:srgbClr val="F8FAFC"/>
                </a:solidFill>
                <a:latin typeface="Segoe UI"/>
              </a:defRPr>
            </a:pPr>
            <a:r>
              <a:t>Invasive Telemetry &amp; Cloud Leakage</a:t>
            </a:r>
          </a:p>
          <a:p>
            <a:pPr>
              <a:spcBef>
                <a:spcPts val="1000"/>
              </a:spcBef>
              <a:defRPr sz="1150">
                <a:solidFill>
                  <a:srgbClr val="94A3B8"/>
                </a:solidFill>
                <a:latin typeface="Segoe UI"/>
              </a:defRPr>
            </a:pPr>
            <a:r>
              <a:t>Legacy tools log full window titles, URLs, keystrokes, and screenshots—exposing banking, passwords, and private chats to remote cloud servers for corporate profiling.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0832" y="1691640"/>
            <a:ext cx="342900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/>
            </a:pPr>
            <a:r>
              <a:t>⚡</a:t>
            </a:r>
          </a:p>
          <a:p>
            <a:pPr>
              <a:spcBef>
                <a:spcPts val="800"/>
              </a:spcBef>
              <a:defRPr sz="1600" b="1">
                <a:solidFill>
                  <a:srgbClr val="F8FAFC"/>
                </a:solidFill>
                <a:latin typeface="Segoe UI"/>
              </a:defRPr>
            </a:pPr>
            <a:r>
              <a:t>Battery Drain &amp; CPU Contention</a:t>
            </a:r>
          </a:p>
          <a:p>
            <a:pPr>
              <a:spcBef>
                <a:spcPts val="1000"/>
              </a:spcBef>
              <a:defRPr sz="1150">
                <a:solidFill>
                  <a:srgbClr val="94A3B8"/>
                </a:solidFill>
                <a:latin typeface="Segoe UI"/>
              </a:defRPr>
            </a:pPr>
            <a:r>
              <a:t>Executing continuous background AI models on traditional x86 CPUs draws 3W to 5W of power, causing thermal throttling, fan noise, and severe laptop battery degradation.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691640"/>
            <a:ext cx="342900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/>
            </a:pPr>
            <a:r>
              <a:t>⚠️</a:t>
            </a:r>
          </a:p>
          <a:p>
            <a:pPr>
              <a:spcBef>
                <a:spcPts val="800"/>
              </a:spcBef>
              <a:defRPr sz="1600" b="1">
                <a:solidFill>
                  <a:srgbClr val="F8FAFC"/>
                </a:solidFill>
                <a:latin typeface="Segoe UI"/>
              </a:defRPr>
            </a:pPr>
            <a:r>
              <a:t>Guilt, Anxiety &amp; Clinical Overreach</a:t>
            </a:r>
          </a:p>
          <a:p>
            <a:pPr>
              <a:spcBef>
                <a:spcPts val="1000"/>
              </a:spcBef>
              <a:defRPr sz="1150">
                <a:solidFill>
                  <a:srgbClr val="94A3B8"/>
                </a:solidFill>
                <a:latin typeface="Segoe UI"/>
              </a:defRPr>
            </a:pPr>
            <a:r>
              <a:t>Conventional apps rely on intrusive modal timers and pseudoscientific clinical labels ('burnout', 'ADHD', 'addiction'), increasing anxiety rather than user agency.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ARCHITECTURE &amp; PIPELINE</a:t>
            </a:r>
          </a:p>
          <a:p>
            <a:pPr>
              <a:spcBef>
                <a:spcPts val="200"/>
              </a:spcBef>
              <a:defRPr sz="2400" b="1">
                <a:solidFill>
                  <a:srgbClr val="F8FAFC"/>
                </a:solidFill>
                <a:latin typeface="Segoe UI"/>
              </a:defRPr>
            </a:pPr>
            <a:r>
              <a:t>Dual-AI On-Device Intelligence: Snapdragon Hexagon NPU + Qualcomm AI Hub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4290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EA5E9"/>
                </a:solidFill>
                <a:latin typeface="Segoe UI"/>
              </a:defRPr>
            </a:pPr>
            <a:r>
              <a:t>1. Coarse Win32 Hook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SetWinEventHook tracks foreground process names only; GetLastInputInfo tracks idle periods. Zero window text, URLs, or inputs read.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0832" y="1691640"/>
            <a:ext cx="34290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EA5E9"/>
                </a:solidFill>
                <a:latin typeface="Segoe UI"/>
              </a:defRPr>
            </a:pPr>
            <a:r>
              <a:t>2. Privacy Enforcement Gate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Physically sanitizes telemetry at capture time. Reflection guards guarantee zero forbidden fields (titles, URLs, keystrokes) on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691640"/>
            <a:ext cx="34290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EA5E9"/>
                </a:solidFill>
                <a:latin typeface="Segoe UI"/>
              </a:defRPr>
            </a:pPr>
            <a:r>
              <a:t>3. Local SQLite (DPAPI)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Zero-cloud persistence in SQLite WAL mode. Database keys derived using Windows DPAPI. Instantaneous cryptographic purge.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34290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EA5E9"/>
                </a:solidFill>
                <a:latin typeface="Segoe UI"/>
              </a:defRPr>
            </a:pPr>
            <a:r>
              <a:t>4. AI Layer 1: Hexagon NPU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Continuous 60x10 sliding tensor classified on Snapdragon Hexagon NPU via QNN EP in 1.42ms at 140 mW (INT8 QDQ).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4023360"/>
            <a:ext cx="34290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EA5E9"/>
                </a:solidFill>
                <a:latin typeface="Segoe UI"/>
              </a:defRPr>
            </a:pPr>
            <a:r>
              <a:t>5. AI Layer 2: Qualcomm AI Hub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Grounded Local Copilot using Qwen2.5-0.5B INT4 HTP. LocalQueryPlanner passes structured SQLite aggregates (&lt;LOCAL_FACTS&gt;).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4023360"/>
            <a:ext cx="342900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50" b="1">
                <a:solidFill>
                  <a:srgbClr val="0EA5E9"/>
                </a:solidFill>
                <a:latin typeface="Segoe UI"/>
              </a:defRPr>
            </a:pPr>
            <a:r>
              <a:t>6. Fact Validator &amp; Policy Guard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CopilotFactChecker cross-verifies numbers to eliminate hallucinations; CopilotPolicyGuard refuses clinical/psychiatric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LIVE UI SHOWCASE — POSITIVE REINFORCEMENT</a:t>
            </a:r>
          </a:p>
          <a:p>
            <a:pPr>
              <a:spcBef>
                <a:spcPts val="200"/>
              </a:spcBef>
              <a:defRPr sz="2400" b="1">
                <a:solidFill>
                  <a:srgbClr val="F8FAFC"/>
                </a:solidFill>
                <a:latin typeface="Segoe UI"/>
              </a:defRPr>
            </a:pPr>
            <a:r>
              <a:t>Flow-State Recognition &amp; Real-Time Focus Canvas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713232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verview_flow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9494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645920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10B981"/>
                </a:solidFill>
                <a:latin typeface="Segoe UI"/>
              </a:defRPr>
            </a:pPr>
            <a:r>
              <a:t>Flow State Achieved Card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Detects ≥60 min uninterrupted deep work with 0 context switches. As captured in the screenshot, '74m deep work in VS Code' is celebrated with emerald positive reinforcement.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182112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EA5E9"/>
                </a:solidFill>
                <a:latin typeface="Segoe UI"/>
              </a:defRPr>
            </a:pPr>
            <a:r>
              <a:t>Live Focus Canvas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Sub-second live timer updates every moment with zero UI latency, displaying the active application and session duration without polling.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718304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A855F7"/>
                </a:solidFill>
                <a:latin typeface="Segoe UI"/>
              </a:defRPr>
            </a:pPr>
            <a:r>
              <a:t>Voice-Narrated Summary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Native Windows offline speech synthesis ('Listen to Today's Summary' button) delivers calm, human daily audio briefings with zero network calls.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LIVE UI SHOWCASE — QUALCOMM AI HUB LOCAL COPILOT</a:t>
            </a:r>
          </a:p>
          <a:p>
            <a:pPr>
              <a:spcBef>
                <a:spcPts val="200"/>
              </a:spcBef>
              <a:defRPr sz="2400" b="1">
                <a:solidFill>
                  <a:srgbClr val="F8FAFC"/>
                </a:solidFill>
                <a:latin typeface="Segoe UI"/>
              </a:defRPr>
            </a:pPr>
            <a:r>
              <a:t>'Ask Mirror': Grounded Natural Language Interface Running on Device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713232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THE DETERMINISTIC GROUNDING &amp; SAFETY PIPELINE</a:t>
            </a:r>
          </a:p>
          <a:p>
            <a:pPr>
              <a:spcBef>
                <a:spcPts val="6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• User Query Ingestion: </a:t>
            </a:r>
            <a:r>
              <a:rPr sz="1000">
                <a:solidFill>
                  <a:srgbClr val="94A3B8"/>
                </a:solidFill>
                <a:latin typeface="Segoe UI"/>
              </a:rPr>
              <a:t>User types or clicks quick chip ('Summarize today', 'Longest session', 'What does Mirror store?').</a:t>
            </a:r>
          </a:p>
          <a:p>
            <a:pPr>
              <a:spcBef>
                <a:spcPts val="6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• Intent Classification: </a:t>
            </a:r>
            <a:r>
              <a:rPr sz="1000">
                <a:solidFill>
                  <a:srgbClr val="94A3B8"/>
                </a:solidFill>
                <a:latin typeface="Segoe UI"/>
              </a:rPr>
              <a:t>QuestionClassifier categorizes query into structured intent (DailySummary, DayComparison, WeeklyTrends, PrivacyAudit).</a:t>
            </a:r>
          </a:p>
          <a:p>
            <a:pPr>
              <a:spcBef>
                <a:spcPts val="6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• Local Query Planning: </a:t>
            </a:r>
            <a:r>
              <a:rPr sz="1000">
                <a:solidFill>
                  <a:srgbClr val="94A3B8"/>
                </a:solidFill>
                <a:latin typeface="Segoe UI"/>
              </a:rPr>
              <a:t>LocalQueryPlanner fetches verified aggregates from SQLite WAL. No free-form SQL generation allowed.</a:t>
            </a:r>
          </a:p>
          <a:p>
            <a:pPr>
              <a:spcBef>
                <a:spcPts val="6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• Bounded Prompt Construction: </a:t>
            </a:r>
            <a:r>
              <a:rPr sz="1000">
                <a:solidFill>
                  <a:srgbClr val="94A3B8"/>
                </a:solidFill>
                <a:latin typeface="Segoe UI"/>
              </a:rPr>
              <a:t>Encapsulates facts inside &lt;LOCAL_FACTS&gt; with strict anti-therapist system instructions.</a:t>
            </a:r>
          </a:p>
          <a:p>
            <a:pPr>
              <a:spcBef>
                <a:spcPts val="6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• Qualcomm AI Hub SLM Inference: </a:t>
            </a:r>
            <a:r>
              <a:rPr sz="1000">
                <a:solidFill>
                  <a:srgbClr val="94A3B8"/>
                </a:solidFill>
                <a:latin typeface="Segoe UI"/>
              </a:rPr>
              <a:t>Qwen2.5-0.5B-Instruct executes on Hexagon NPU / DirectML with sub-100ms TTFT.</a:t>
            </a:r>
          </a:p>
          <a:p>
            <a:pPr>
              <a:spcBef>
                <a:spcPts val="6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• Automated Fact &amp; Policy Validation: </a:t>
            </a:r>
            <a:r>
              <a:rPr sz="1000">
                <a:solidFill>
                  <a:srgbClr val="94A3B8"/>
                </a:solidFill>
                <a:latin typeface="Segoe UI"/>
              </a:rPr>
              <a:t>CopilotFactChecker cross-verifies numbers against context. CopilotPolicyGuard refuses diagnostic queries.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EA5E9"/>
                </a:solidFill>
                <a:latin typeface="Segoe UI"/>
              </a:defRPr>
            </a:pPr>
            <a:r>
              <a:t>Quick Command Chips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One-click inquiries ('Summarize today', 'Compare with yesterday', 'Show longest session') deliver instant local briefings.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3182112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10B981"/>
                </a:solidFill>
                <a:latin typeface="Segoe UI"/>
              </a:defRPr>
            </a:pPr>
            <a:r>
              <a:t>Show Grounded Evidence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Users can toggle the Evidence Drawer to inspect the exact raw SQLite facts and active minutes that fed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4718304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59E0B"/>
                </a:solidFill>
                <a:latin typeface="Segoe UI"/>
              </a:defRPr>
            </a:pPr>
            <a:r>
              <a:t>Strict Anti-Therapist Guard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Queries like 'Am I burned out?' or 'Do I have ADHD?' are deterministically refused with neutral, objective telemetry.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LIVE UI SHOWCASE — EXPLAINABLE BEHAVIORAL AI</a:t>
            </a:r>
          </a:p>
          <a:p>
            <a:pPr>
              <a:spcBef>
                <a:spcPts val="200"/>
              </a:spcBef>
              <a:defRPr sz="2400" b="1">
                <a:solidFill>
                  <a:srgbClr val="F8FAFC"/>
                </a:solidFill>
                <a:latin typeface="Segoe UI"/>
              </a:defRPr>
            </a:pPr>
            <a:r>
              <a:t>Explain with Local AI (SLM / RAG) &amp; Active Recalibration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713232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ehavioral_patterns_s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9494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645920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EA5E9"/>
                </a:solidFill>
                <a:latin typeface="Segoe UI"/>
              </a:defRPr>
            </a:pPr>
            <a:r>
              <a:t>On-Device SLM RAG Reasoning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Extracts a 4-hour local SQLite context window around flagged patterns. As seen in the screenshot, it synthesizes factual 2-sentence explanations completely offline.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182112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59E0B"/>
                </a:solidFill>
                <a:latin typeface="Segoe UI"/>
              </a:defRPr>
            </a:pPr>
            <a:r>
              <a:t>Active Recalibration Loop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Users can click 'This isn't accurate' to instantly bump sensitivity thresholds by +15%, teaching Mirror personal habits without cloud retraining.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718304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10B981"/>
                </a:solidFill>
                <a:latin typeface="Segoe UI"/>
              </a:defRPr>
            </a:pPr>
            <a:r>
              <a:t>Non-Clinical Objective Framing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Enforces strict ethical guidelines prohibiting diagnostic labels ('burnout', 'addiction'), presenting purely observational evidence.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LIVE UI SHOWCASE — PERSONALIZATION WITHOUT PROFILING</a:t>
            </a:r>
          </a:p>
          <a:p>
            <a:pPr>
              <a:spcBef>
                <a:spcPts val="200"/>
              </a:spcBef>
              <a:defRPr sz="2400" b="1">
                <a:solidFill>
                  <a:srgbClr val="F8FAFC"/>
                </a:solidFill>
                <a:latin typeface="Segoe UI"/>
              </a:defRPr>
            </a:pPr>
            <a:r>
              <a:t>Adaptive Baseline &amp; 24-Hour Digital Rhythm Analytics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713232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ends_adaptiv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9494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645920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10B981"/>
                </a:solidFill>
                <a:latin typeface="Segoe UI"/>
              </a:defRPr>
            </a:pPr>
            <a:r>
              <a:t>Rolling Statistical Envelope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Replaces rigid arbitrary limits with a 14-day rolling median (6.5h) and natural variance standard deviation (±1.1h) derived entirely on-device.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182112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EA5E9"/>
                </a:solidFill>
                <a:latin typeface="Segoe UI"/>
              </a:defRPr>
            </a:pPr>
            <a:r>
              <a:t>Strict &gt;2σ Outlier Gate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Anomalous patterns trigger only if usage exceeds two standard deviations (&gt;2σ = 8.7h), eliminating false alerts during typical busy days.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718304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A855F7"/>
                </a:solidFill>
                <a:latin typeface="Segoe UI"/>
              </a:defRPr>
            </a:pPr>
            <a:r>
              <a:t>Digital Rhythm Segmentation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DigitalRhythmService analyzes 24h activity across Morning, Afternoon, Evening, and Late-Night against established personal baselines.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55F7"/>
                </a:solidFill>
                <a:latin typeface="Segoe UI"/>
              </a:defRPr>
            </a:pPr>
            <a:r>
              <a:t>LIVE UI SHOWCASE — SUB-SECOND OBSERVABILITY</a:t>
            </a:r>
          </a:p>
          <a:p>
            <a:pPr>
              <a:spcBef>
                <a:spcPts val="200"/>
              </a:spcBef>
              <a:defRPr sz="2400" b="1">
                <a:solidFill>
                  <a:srgbClr val="F8FAFC"/>
                </a:solidFill>
                <a:latin typeface="Segoe UI"/>
              </a:defRPr>
            </a:pPr>
            <a:r>
              <a:t>Activity Timeline &amp; Multi-Dimensional Session Classification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713232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tivity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949440" cy="4297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645920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A855F7"/>
                </a:solidFill>
                <a:latin typeface="Segoe UI"/>
              </a:defRPr>
            </a:pPr>
            <a:r>
              <a:t>Sub-Second Live Tracking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Prepends active foreground application as 'LIVE NOW' with focus duration ticking every moment, smoothly archiving on window switch.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182112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EA5E9"/>
                </a:solidFill>
                <a:latin typeface="Segoe UI"/>
              </a:defRPr>
            </a:pPr>
            <a:r>
              <a:t>Structural Session Archetypes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SessionStructureClassifier categorizes blocks into Focused, Fragmented, Long-Form, Switch-Heavy, or Reopen-Heavy without moralizing language.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718304"/>
            <a:ext cx="3383280" cy="1417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10B981"/>
                </a:solidFill>
                <a:latin typeface="Segoe UI"/>
              </a:defRPr>
            </a:pPr>
            <a:r>
              <a:t>Zero Private Content Ingestion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Only captures (Timestamp, AppKey, Process, Category, Duration). Zero document titles, URLs, or text inputs ever recorded.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Segoe UI"/>
              </a:defRPr>
            </a:pPr>
            <a:r>
              <a:t>SNAPDRAGON X NPU HARDWARE ACCELERATION</a:t>
            </a:r>
          </a:p>
          <a:p>
            <a:pPr>
              <a:spcBef>
                <a:spcPts val="200"/>
              </a:spcBef>
              <a:defRPr sz="2400" b="1">
                <a:solidFill>
                  <a:srgbClr val="F8FAFC"/>
                </a:solidFill>
                <a:latin typeface="Segoe UI"/>
              </a:defRPr>
            </a:pPr>
            <a:r>
              <a:t>Empirical On-Device Benchmarks: 13.2x Lower Latency, 20x Power Efficiency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2542032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0EA5E9"/>
                </a:solidFill>
                <a:latin typeface="Segoe UI"/>
              </a:defRPr>
            </a:pPr>
            <a:r>
              <a:t>1.42 ms</a:t>
            </a:r>
          </a:p>
          <a:p>
            <a:pPr>
              <a:spcBef>
                <a:spcPts val="200"/>
              </a:spcBef>
              <a:defRPr sz="950" b="1">
                <a:solidFill>
                  <a:srgbClr val="F8FAFC"/>
                </a:solidFill>
                <a:latin typeface="Segoe UI"/>
              </a:defRPr>
            </a:pPr>
            <a:r>
              <a:t>STEADY-STATE P50 LATENCY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Snapdragon Hexagon NPU via QNN EP executes [60×10] tensor in 1.42ms vs 18.7ms CPU.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91640"/>
            <a:ext cx="2542032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10B981"/>
                </a:solidFill>
                <a:latin typeface="Segoe UI"/>
              </a:defRPr>
            </a:pPr>
            <a:r>
              <a:t>140 mW</a:t>
            </a:r>
          </a:p>
          <a:p>
            <a:pPr>
              <a:spcBef>
                <a:spcPts val="200"/>
              </a:spcBef>
              <a:defRPr sz="950" b="1">
                <a:solidFill>
                  <a:srgbClr val="F8FAFC"/>
                </a:solidFill>
                <a:latin typeface="Segoe UI"/>
              </a:defRPr>
            </a:pPr>
            <a:r>
              <a:t>ACTIVE POWER CONSUMPTION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20.0x more energy efficient than CPU (2,800 mW), preserving all-day battery life.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91640"/>
            <a:ext cx="2542032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F59E0B"/>
                </a:solidFill>
                <a:latin typeface="Segoe UI"/>
              </a:defRPr>
            </a:pPr>
            <a:r>
              <a:t>704 inf/s</a:t>
            </a:r>
          </a:p>
          <a:p>
            <a:pPr>
              <a:spcBef>
                <a:spcPts val="200"/>
              </a:spcBef>
              <a:defRPr sz="950" b="1">
                <a:solidFill>
                  <a:srgbClr val="F8FAFC"/>
                </a:solidFill>
                <a:latin typeface="Segoe UI"/>
              </a:defRPr>
            </a:pPr>
            <a:r>
              <a:t>EVALUATION THROUGHPUT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Continuous behavioral monitoring with zero CPU core contention or background throttling.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91640"/>
            <a:ext cx="2542032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A855F7"/>
                </a:solidFill>
                <a:latin typeface="Segoe UI"/>
              </a:defRPr>
            </a:pPr>
            <a:r>
              <a:t>&lt; 0.2%</a:t>
            </a:r>
          </a:p>
          <a:p>
            <a:pPr>
              <a:spcBef>
                <a:spcPts val="200"/>
              </a:spcBef>
              <a:defRPr sz="950" b="1">
                <a:solidFill>
                  <a:srgbClr val="F8FAFC"/>
                </a:solidFill>
                <a:latin typeface="Segoe UI"/>
              </a:defRPr>
            </a:pPr>
            <a:r>
              <a:t>DAILY BATTERY IMPACT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Runs 24/7 in background with undetectable battery drain on Snapdragon Copilot+ PCs.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106984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A5E9"/>
                </a:solidFill>
                <a:latin typeface="Segoe UI"/>
              </a:defRPr>
            </a:pPr>
            <a:r>
              <a:t>HARDWARE EXECUTION PROVIDER COMPARISON &amp; FALLBACK HIERARCHY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  <a:latin typeface="Segoe UI"/>
              </a:defRPr>
            </a:pPr>
            <a:r>
              <a:t>• Primary: Qualcomm Hexagon NPU (QNN EP) — 1.42ms latency, 140mW power. Dedicated HTP tensor path for perpetual intelligence.</a:t>
            </a:r>
            <a:br/>
            <a:r>
              <a:t>• Secondary: DirectML GPU (Adreno / iGPU) — 3.85ms latency, 680mW power. High-speed DirectX 12 acceleration.</a:t>
            </a:r>
            <a:br/>
            <a:r>
              <a:t>• Tertiary: CPU Execution Provider (AVX2 / NEON) — 18.70ms latency, 2,800mW power. Universal fallback ensuring 100% device compatibility.</a:t>
            </a:r>
            <a:br/>
            <a:r>
              <a:t>• Live Diagnostics &amp; Benchmark Runner: Built directly into the app (NPU &amp; Diagnostics page) with real-time comparative pass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VERIFICATION &amp; DATA SOVEREIGNTY</a:t>
            </a:r>
          </a:p>
          <a:p>
            <a:pPr>
              <a:spcBef>
                <a:spcPts val="200"/>
              </a:spcBef>
              <a:defRPr sz="2400" b="1">
                <a:solidFill>
                  <a:srgbClr val="F8FAFC"/>
                </a:solidFill>
                <a:latin typeface="Segoe UI"/>
              </a:defRPr>
            </a:pPr>
            <a:r>
              <a:t>Mathematical Proof: Zero Network Calls, Encrypted Wallet, 116 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2578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10B981"/>
                </a:solidFill>
                <a:latin typeface="Segoe UI"/>
              </a:defRPr>
            </a:pPr>
            <a:r>
              <a:t>✅  116 / 116 Automated Tests Passing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100% pass rate across 7 test suites: Core, Tracking, Persistence, Analytics, Inference, Privacy, and AI with 0 failures.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91640"/>
            <a:ext cx="52578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0EA5E9"/>
                </a:solidFill>
                <a:latin typeface="Segoe UI"/>
              </a:defRPr>
            </a:pPr>
            <a:r>
              <a:t>🛡️  Reflection Privacy Guard &amp; Gate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Static and AST code inspection dynamically verifies zero references to System.Net, HttpClient, or sockets across all assemblies.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77639"/>
            <a:ext cx="52578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A855F7"/>
                </a:solidFill>
                <a:latin typeface="Segoe UI"/>
              </a:defRPr>
            </a:pPr>
            <a:r>
              <a:t>🔐  AES-256-GCM 'Wellbeing Wallet'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Military-grade password-protected archive (.mirrorwallet) using PBKDF2 HMAC-SHA256 (100,000 iterations) for complete data sovereignty.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77639"/>
            <a:ext cx="525780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F59E0B"/>
                </a:solidFill>
                <a:latin typeface="Segoe UI"/>
              </a:defRPr>
            </a:pPr>
            <a:r>
              <a:t>🎯  Deterministic Anti-Hallucination Guard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CopilotFactChecker verifies every quantitative statement against local SQLite before display, mathematically preventing hallucination.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EA5E9"/>
                </a:solidFill>
                <a:latin typeface="Segoe UI"/>
              </a:defRPr>
            </a:pPr>
            <a:r>
              <a:t>THE QUALCOMM HACKATHON WINNING PROPOSITION</a:t>
            </a:r>
          </a:p>
          <a:p>
            <a:pPr>
              <a:spcBef>
                <a:spcPts val="400"/>
              </a:spcBef>
              <a:defRPr sz="2500" b="1">
                <a:solidFill>
                  <a:srgbClr val="F8FAFC"/>
                </a:solidFill>
                <a:latin typeface="Segoe UI"/>
              </a:defRPr>
            </a:pPr>
            <a:r>
              <a:t>Why Mirror is the Championship Showcase for Qualcomm Snapdragon PCs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Segoe UI"/>
              </a:defRPr>
            </a:pPr>
            <a:r>
              <a:t>1. Real Consumer Need for the NPU: </a:t>
            </a:r>
            <a:r>
              <a:rPr sz="1150">
                <a:solidFill>
                  <a:srgbClr val="94A3B8"/>
                </a:solidFill>
                <a:latin typeface="Segoe UI"/>
              </a:rPr>
              <a:t>Provides the definitive reason users want an NPU in their next laptop: continuous 24/7 background behavioral intelligence that runs with 1.4ms latency and zero battery drain.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Segoe UI"/>
              </a:defRPr>
            </a:pPr>
            <a:r>
              <a:t>2. Best Use of Qualcomm AI Hub: </a:t>
            </a:r>
            <a:r>
              <a:rPr sz="1150">
                <a:solidFill>
                  <a:srgbClr val="94A3B8"/>
                </a:solidFill>
                <a:latin typeface="Segoe UI"/>
              </a:rPr>
              <a:t>Pioneers a dual-AI stack pairing Hexagon NPU temporal sequence classification with Qualcomm AI Hub natural language Copilot (Qwen2.5-0.5B INT4 HTP).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Segoe UI"/>
              </a:defRPr>
            </a:pPr>
            <a:r>
              <a:t>3. Production-Grade Engineering: </a:t>
            </a:r>
            <a:r>
              <a:rPr sz="1150">
                <a:solidFill>
                  <a:srgbClr val="94A3B8"/>
                </a:solidFill>
                <a:latin typeface="Segoe UI"/>
              </a:rPr>
              <a:t>Not a prototype or slide deck. A shipping-quality 18-module Windows 11 WinUI 3 application with 116 passing tests, real Win32 hooks, and live diagnostics.</a:t>
            </a:r>
          </a:p>
          <a:p>
            <a:pPr>
              <a:spcBef>
                <a:spcPts val="1000"/>
              </a:spcBef>
              <a:defRPr sz="1200" b="1">
                <a:solidFill>
                  <a:srgbClr val="10B981"/>
                </a:solidFill>
                <a:latin typeface="Segoe UI"/>
              </a:defRPr>
            </a:pPr>
            <a:r>
              <a:t>4. Solves AI's Greatest Crisis: Privacy: </a:t>
            </a:r>
            <a:r>
              <a:rPr sz="1150">
                <a:solidFill>
                  <a:srgbClr val="94A3B8"/>
                </a:solidFill>
                <a:latin typeface="Segoe UI"/>
              </a:rPr>
              <a:t>Proves that predictive and generative AI can operate with 100% privacy—zero network sockets, zero cloud servers, zero keystroke or URL capture, and complete user data ownership.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